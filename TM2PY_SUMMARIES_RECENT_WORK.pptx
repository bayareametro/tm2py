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33"/>
    <p:restoredTop autoAdjust="0" sz="94711"/>
  </p:normalViewPr>
  <p:slideViewPr>
    <p:cSldViewPr snapToGrid="0" snapToObjects="1">
      <p:cViewPr varScale="1">
        <p:scale>
          <a:sx d="100" n="84"/>
          <a:sy d="100" n="84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5" Type="http://schemas.openxmlformats.org/officeDocument/2006/relationships/viewProps" Target="viewProps.xml" /><Relationship Id="rId2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7" Type="http://schemas.openxmlformats.org/officeDocument/2006/relationships/tableStyles" Target="tableStyles.xml" /><Relationship Id="rId2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TM2PY</a:t>
            </a:r>
            <a:r>
              <a:rPr/>
              <a:t> </a:t>
            </a:r>
            <a:r>
              <a:rPr/>
              <a:t>Summaries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Recent</a:t>
            </a:r>
            <a:r>
              <a:rPr/>
              <a:t> </a:t>
            </a:r>
            <a:r>
              <a:rPr/>
              <a:t>Development</a:t>
            </a:r>
            <a:r>
              <a:rPr/>
              <a:t> </a:t>
            </a:r>
            <a:r>
              <a:rPr/>
              <a:t>(Past</a:t>
            </a:r>
            <a:r>
              <a:rPr/>
              <a:t> </a:t>
            </a:r>
            <a:r>
              <a:rPr/>
              <a:t>6</a:t>
            </a:r>
            <a:r>
              <a:rPr/>
              <a:t> </a:t>
            </a:r>
            <a:r>
              <a:rPr/>
              <a:t>Months)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Prepared for</a:t>
            </a:r>
            <a:r>
              <a:rPr/>
              <a:t>: Management Review</a:t>
            </a:r>
            <a:br/>
            <a:r>
              <a:rPr b="1"/>
              <a:t>Date</a:t>
            </a:r>
            <a:r>
              <a:rPr/>
              <a:t>: January 5, 2026</a:t>
            </a:r>
            <a:br/>
            <a:r>
              <a:rPr b="1"/>
              <a:t>Focus</a:t>
            </a:r>
            <a:r>
              <a:rPr/>
              <a:t>: New automated summary tools developed in the past 6 months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📊 Slide 1: Overview - What We Built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Three New Tools</a:t>
            </a:r>
          </a:p>
          <a:p>
            <a:pPr lvl="0" marL="0" indent="0">
              <a:buNone/>
            </a:pPr>
            <a:r>
              <a:rPr/>
              <a:t>✅ </a:t>
            </a:r>
            <a:r>
              <a:rPr b="1"/>
              <a:t>Network Performance Reports</a:t>
            </a:r>
            <a:r>
              <a:rPr/>
              <a:t> - Highway and transit system performance</a:t>
            </a:r>
            <a:br/>
            <a:r>
              <a:rPr/>
              <a:t>✅ </a:t>
            </a:r>
            <a:r>
              <a:rPr b="1"/>
              <a:t>Travel Behavior Summaries</a:t>
            </a:r>
            <a:r>
              <a:rPr/>
              <a:t> - 23 standard summaries of how people travel</a:t>
            </a:r>
            <a:br/>
            <a:r>
              <a:rPr/>
              <a:t>✅ </a:t>
            </a:r>
            <a:r>
              <a:rPr b="1"/>
              <a:t>Data Export Tools</a:t>
            </a:r>
            <a:r>
              <a:rPr/>
              <a:t> - Prepare data for acceptance testing and visualization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What This Means</a:t>
            </a:r>
          </a:p>
          <a:p>
            <a:pPr lvl="1"/>
            <a:r>
              <a:rPr b="1"/>
              <a:t>Save Time</a:t>
            </a:r>
            <a:r>
              <a:rPr/>
              <a:t>: What used to take hours now takes 10 minutes</a:t>
            </a:r>
          </a:p>
          <a:p>
            <a:pPr lvl="1"/>
            <a:r>
              <a:rPr b="1"/>
              <a:t>More Reliable</a:t>
            </a:r>
            <a:r>
              <a:rPr/>
              <a:t>: Same calculations every time, no manual errors</a:t>
            </a:r>
          </a:p>
          <a:p>
            <a:pPr lvl="1"/>
            <a:r>
              <a:rPr b="1"/>
              <a:t>Catch Problems Early</a:t>
            </a:r>
            <a:r>
              <a:rPr/>
              <a:t>: Automatic checks flag data issues before they become bigger problems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📊 Slide 2: Network Performance Reports (NEW)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What It Does</a:t>
            </a:r>
          </a:p>
          <a:p>
            <a:pPr lvl="0" marL="0" indent="0">
              <a:buNone/>
            </a:pPr>
            <a:r>
              <a:rPr/>
              <a:t>Automatically creates reports showing how the transportation system performs - traffic speeds, congestion, transit ridership.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What You Get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Report</a:t>
                      </a:r>
                      <a:r>
                        <a:rPr/>
                        <a:t> </a:t>
                      </a: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Shows</a:t>
                      </a:r>
                      <a:r>
                        <a:rPr/>
                        <a:t> </a:t>
                      </a:r>
                      <a:r>
                        <a:rPr/>
                        <a:t>You…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Coverage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Highway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How</a:t>
                      </a:r>
                      <a:r>
                        <a:rPr/>
                        <a:t> </a:t>
                      </a:r>
                      <a:r>
                        <a:rPr/>
                        <a:t>much</a:t>
                      </a:r>
                      <a:r>
                        <a:rPr/>
                        <a:t> </a:t>
                      </a:r>
                      <a:r>
                        <a:rPr/>
                        <a:t>traffic,</a:t>
                      </a:r>
                      <a:r>
                        <a:rPr/>
                        <a:t> </a:t>
                      </a:r>
                      <a:r>
                        <a:rPr/>
                        <a:t>where</a:t>
                      </a:r>
                      <a:r>
                        <a:rPr/>
                        <a:t> </a:t>
                      </a:r>
                      <a:r>
                        <a:rPr/>
                        <a:t>delays</a:t>
                      </a:r>
                      <a:r>
                        <a:rPr/>
                        <a:t> </a:t>
                      </a:r>
                      <a:r>
                        <a:rPr/>
                        <a:t>occur,</a:t>
                      </a:r>
                      <a:r>
                        <a:rPr/>
                        <a:t> </a:t>
                      </a:r>
                      <a:r>
                        <a:rPr/>
                        <a:t>speeds</a:t>
                      </a:r>
                      <a:r>
                        <a:rPr/>
                        <a:t> </a:t>
                      </a:r>
                      <a:r>
                        <a:rPr/>
                        <a:t>by</a:t>
                      </a:r>
                      <a:r>
                        <a:rPr/>
                        <a:t> </a:t>
                      </a:r>
                      <a:r>
                        <a:rPr/>
                        <a:t>road</a:t>
                      </a:r>
                      <a:r>
                        <a:rPr/>
                        <a:t> </a:t>
                      </a:r>
                      <a:r>
                        <a:rPr/>
                        <a:t>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Morning,</a:t>
                      </a:r>
                      <a:r>
                        <a:rPr/>
                        <a:t> </a:t>
                      </a:r>
                      <a:r>
                        <a:rPr/>
                        <a:t>midday,</a:t>
                      </a:r>
                      <a:r>
                        <a:rPr/>
                        <a:t> </a:t>
                      </a:r>
                      <a:r>
                        <a:rPr/>
                        <a:t>evening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Transit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How</a:t>
                      </a:r>
                      <a:r>
                        <a:rPr/>
                        <a:t> </a:t>
                      </a:r>
                      <a:r>
                        <a:rPr/>
                        <a:t>many</a:t>
                      </a:r>
                      <a:r>
                        <a:rPr/>
                        <a:t> </a:t>
                      </a:r>
                      <a:r>
                        <a:rPr/>
                        <a:t>people</a:t>
                      </a:r>
                      <a:r>
                        <a:rPr/>
                        <a:t> </a:t>
                      </a:r>
                      <a:r>
                        <a:rPr/>
                        <a:t>ride</a:t>
                      </a:r>
                      <a:r>
                        <a:rPr/>
                        <a:t> </a:t>
                      </a:r>
                      <a:r>
                        <a:rPr/>
                        <a:t>each</a:t>
                      </a:r>
                      <a:r>
                        <a:rPr/>
                        <a:t> </a:t>
                      </a:r>
                      <a:r>
                        <a:rPr/>
                        <a:t>line,</a:t>
                      </a:r>
                      <a:r>
                        <a:rPr/>
                        <a:t> </a:t>
                      </a:r>
                      <a:r>
                        <a:rPr/>
                        <a:t>which</a:t>
                      </a:r>
                      <a:r>
                        <a:rPr/>
                        <a:t> </a:t>
                      </a:r>
                      <a:r>
                        <a:rPr/>
                        <a:t>buses/trains</a:t>
                      </a:r>
                      <a:r>
                        <a:rPr/>
                        <a:t> </a:t>
                      </a:r>
                      <a:r>
                        <a:rPr/>
                        <a:t>are</a:t>
                      </a:r>
                      <a:r>
                        <a:rPr/>
                        <a:t> </a:t>
                      </a:r>
                      <a:r>
                        <a:rPr/>
                        <a:t>full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All</a:t>
                      </a:r>
                      <a:r>
                        <a:rPr/>
                        <a:t> </a:t>
                      </a:r>
                      <a:r>
                        <a:rPr/>
                        <a:t>day,</a:t>
                      </a:r>
                      <a:r>
                        <a:rPr/>
                        <a:t> </a:t>
                      </a:r>
                      <a:r>
                        <a:rPr/>
                        <a:t>by</a:t>
                      </a:r>
                      <a:r>
                        <a:rPr/>
                        <a:t> </a:t>
                      </a:r>
                      <a:r>
                        <a:rPr/>
                        <a:t>operator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Geography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Performance</a:t>
                      </a:r>
                      <a:r>
                        <a:rPr/>
                        <a:t> </a:t>
                      </a:r>
                      <a:r>
                        <a:rPr/>
                        <a:t>by</a:t>
                      </a:r>
                      <a:r>
                        <a:rPr/>
                        <a:t> </a:t>
                      </a:r>
                      <a:r>
                        <a:rPr/>
                        <a:t>county,</a:t>
                      </a:r>
                      <a:r>
                        <a:rPr/>
                        <a:t> </a:t>
                      </a:r>
                      <a:r>
                        <a:rPr/>
                        <a:t>which</a:t>
                      </a:r>
                      <a:r>
                        <a:rPr/>
                        <a:t> </a:t>
                      </a:r>
                      <a:r>
                        <a:rPr/>
                        <a:t>areas</a:t>
                      </a:r>
                      <a:r>
                        <a:rPr/>
                        <a:t> </a:t>
                      </a:r>
                      <a:r>
                        <a:rPr/>
                        <a:t>have</a:t>
                      </a:r>
                      <a:r>
                        <a:rPr/>
                        <a:t> </a:t>
                      </a:r>
                      <a:r>
                        <a:rPr/>
                        <a:t>most</a:t>
                      </a:r>
                      <a:r>
                        <a:rPr/>
                        <a:t> </a:t>
                      </a:r>
                      <a:r>
                        <a:rPr/>
                        <a:t>traffic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</a:t>
                      </a:r>
                      <a:r>
                        <a:rPr/>
                        <a:t> </a:t>
                      </a:r>
                      <a:r>
                        <a:rPr/>
                        <a:t>Bay</a:t>
                      </a:r>
                      <a:r>
                        <a:rPr/>
                        <a:t> </a:t>
                      </a:r>
                      <a:r>
                        <a:rPr/>
                        <a:t>Area</a:t>
                      </a:r>
                      <a:r>
                        <a:rPr/>
                        <a:t> </a:t>
                      </a:r>
                      <a:r>
                        <a:rPr/>
                        <a:t>counties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Quality</a:t>
                      </a:r>
                      <a:r>
                        <a:rPr b="1"/>
                        <a:t> </a:t>
                      </a:r>
                      <a:r>
                        <a:rPr b="1"/>
                        <a:t>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Flags</a:t>
                      </a:r>
                      <a:r>
                        <a:rPr/>
                        <a:t> </a:t>
                      </a:r>
                      <a:r>
                        <a:rPr/>
                        <a:t>unusual</a:t>
                      </a:r>
                      <a:r>
                        <a:rPr/>
                        <a:t> </a:t>
                      </a:r>
                      <a:r>
                        <a:rPr/>
                        <a:t>patterns</a:t>
                      </a:r>
                      <a:r>
                        <a:rPr/>
                        <a:t> </a:t>
                      </a:r>
                      <a:r>
                        <a:rPr/>
                        <a:t>or</a:t>
                      </a:r>
                      <a:r>
                        <a:rPr/>
                        <a:t> </a:t>
                      </a:r>
                      <a:r>
                        <a:rPr/>
                        <a:t>data</a:t>
                      </a:r>
                      <a:r>
                        <a:rPr/>
                        <a:t> </a:t>
                      </a:r>
                      <a:r>
                        <a:rPr/>
                        <a:t>problems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Automatic</a:t>
                      </a:r>
                      <a:r>
                        <a:rPr/>
                        <a:t> </a:t>
                      </a:r>
                      <a:r>
                        <a:rPr/>
                        <a:t>warnings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Reports You Get</a:t>
            </a:r>
          </a:p>
          <a:p>
            <a:pPr lvl="0" marL="0" indent="0">
              <a:buNone/>
            </a:pPr>
            <a:r>
              <a:rPr b="1"/>
              <a:t>Main Summary</a:t>
            </a:r>
            <a:r>
              <a:rPr/>
              <a:t> (everything in one Excel file): - Network performance by road type (freeway, arterial, local) - Transit ridership by operator (BART, Muni, AC Transit, etc.) - County comparisons</a:t>
            </a:r>
          </a:p>
          <a:p>
            <a:pPr lvl="0" marL="0" indent="0">
              <a:buNone/>
            </a:pPr>
            <a:r>
              <a:rPr b="1"/>
              <a:t>Individual Reports</a:t>
            </a:r>
            <a:r>
              <a:rPr/>
              <a:t> (30+ CSV files for detailed analysis): - Traffic volumes and speeds - Transit boardings by line and time of day</a:t>
            </a:r>
            <a:br/>
            <a:r>
              <a:rPr/>
              <a:t>- Infrastructure inventory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Easy to Use</a:t>
            </a:r>
          </a:p>
          <a:p>
            <a:pPr lvl="0" marL="0" indent="0">
              <a:buNone/>
            </a:pPr>
            <a:r>
              <a:rPr/>
              <a:t>One command generates all reports automatically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📊 Slide 3: Travel Behavior Summaries (NEW)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What It Does</a:t>
            </a:r>
          </a:p>
          <a:p>
            <a:pPr lvl="0" marL="0" indent="0">
              <a:buNone/>
            </a:pPr>
            <a:r>
              <a:rPr/>
              <a:t>Automatically summarizes how people in the Bay Area travel - what modes they use, when they travel, where they go.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Key Benefits</a:t>
            </a:r>
          </a:p>
          <a:p>
            <a:pPr lvl="1"/>
            <a:r>
              <a:rPr b="1"/>
              <a:t>23 Standard Reports</a:t>
            </a:r>
            <a:r>
              <a:rPr/>
              <a:t> - Covers everything planners need to see</a:t>
            </a:r>
          </a:p>
          <a:p>
            <a:pPr lvl="1"/>
            <a:r>
              <a:rPr b="1"/>
              <a:t>Quality Checks Built-In</a:t>
            </a:r>
            <a:r>
              <a:rPr/>
              <a:t> - Warns you if numbers look unusual</a:t>
            </a:r>
          </a:p>
          <a:p>
            <a:pPr lvl="1"/>
            <a:r>
              <a:rPr b="1"/>
              <a:t>Fast</a:t>
            </a:r>
            <a:r>
              <a:rPr/>
              <a:t> - Get all summaries in 10 minutes</a:t>
            </a:r>
          </a:p>
          <a:p>
            <a:pPr lvl="1"/>
            <a:r>
              <a:rPr b="1"/>
              <a:t>Easy to Customize</a:t>
            </a:r>
            <a:r>
              <a:rPr/>
              <a:t> - Add new summaries without programming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Types of Travel Summaries</a:t>
            </a:r>
          </a:p>
          <a:p>
            <a:pPr lvl="1">
              <a:buAutoNum type="arabicPeriod"/>
            </a:pPr>
            <a:r>
              <a:rPr b="1"/>
              <a:t>Households</a:t>
            </a:r>
            <a:r>
              <a:rPr/>
              <a:t> (5 reports) - Car ownership, household size, workers</a:t>
            </a:r>
          </a:p>
          <a:p>
            <a:pPr lvl="1">
              <a:buAutoNum type="arabicPeriod"/>
            </a:pPr>
            <a:r>
              <a:rPr b="1"/>
              <a:t>People</a:t>
            </a:r>
            <a:r>
              <a:rPr/>
              <a:t> (4 reports) - Age groups, worker types, daily activities</a:t>
            </a:r>
          </a:p>
          <a:p>
            <a:pPr lvl="1">
              <a:buAutoNum type="arabicPeriod"/>
            </a:pPr>
            <a:r>
              <a:rPr b="1"/>
              <a:t>Tours</a:t>
            </a:r>
            <a:r>
              <a:rPr/>
              <a:t> (7 reports) - Trip purposes, how people travel, distances, timing</a:t>
            </a:r>
          </a:p>
          <a:p>
            <a:pPr lvl="1">
              <a:buAutoNum type="arabicPeriod"/>
            </a:pPr>
            <a:r>
              <a:rPr b="1"/>
              <a:t>Trips</a:t>
            </a:r>
            <a:r>
              <a:rPr/>
              <a:t> (7 reports) - Individual trip segments, modes, purposes, lengths</a:t>
            </a:r>
          </a:p>
          <a:p>
            <a:pPr lvl="0" marL="0" indent="0">
              <a:buNone/>
            </a:pPr>
            <a:r>
              <a:rPr b="1"/>
              <a:t>Total: 23 Core Summaries</a:t>
            </a:r>
            <a:r>
              <a:rPr/>
              <a:t> covering: - How many cars households own (by income level) - What modes people use (drive, transit, walk, bike) - When people travel (morning, midday, evening) - How far people travel (distance distributions) - Work commute patterns - Transit usage patterns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Example Output Files</a:t>
            </a:r>
          </a:p>
          <a:p>
            <a:pPr lvl="1"/>
            <a:r>
              <a:rPr>
                <a:latin typeface="Courier"/>
              </a:rPr>
              <a:t>auto_ownership_regional.csv</a:t>
            </a:r>
            <a:r>
              <a:rPr/>
              <a:t> - How many cars households have</a:t>
            </a:r>
          </a:p>
          <a:p>
            <a:pPr lvl="1"/>
            <a:r>
              <a:rPr>
                <a:latin typeface="Courier"/>
              </a:rPr>
              <a:t>tour_mode_choice.csv</a:t>
            </a:r>
            <a:r>
              <a:rPr/>
              <a:t> - What transportation modes people use</a:t>
            </a:r>
          </a:p>
          <a:p>
            <a:pPr lvl="1"/>
            <a:r>
              <a:rPr>
                <a:latin typeface="Courier"/>
              </a:rPr>
              <a:t>trip_distance_distribution.csv</a:t>
            </a:r>
            <a:r>
              <a:rPr/>
              <a:t> - How far people travel</a:t>
            </a:r>
          </a:p>
          <a:p>
            <a:pPr lvl="1"/>
            <a:r>
              <a:rPr>
                <a:latin typeface="Courier"/>
              </a:rPr>
              <a:t>person_type_distribution.csv</a:t>
            </a:r>
            <a:r>
              <a:rPr/>
              <a:t> - Full-time workers, part-time, students, retirees</a:t>
            </a:r>
          </a:p>
          <a:p>
            <a:pPr lvl="1"/>
            <a:r>
              <a:rPr>
                <a:latin typeface="Courier"/>
              </a:rPr>
              <a:t>journey_to_work_patterns.csv</a:t>
            </a:r>
            <a:r>
              <a:rPr/>
              <a:t> - Commute distances and patterns</a:t>
            </a:r>
          </a:p>
          <a:p>
            <a:pPr lvl="1"/>
            <a:r>
              <a:rPr/>
              <a:t>…and 18 more standard reports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Simple to Run</a:t>
            </a:r>
          </a:p>
          <a:p>
            <a:pPr lvl="0" marL="0" indent="0">
              <a:buNone/>
            </a:pPr>
            <a:r>
              <a:rPr/>
              <a:t>One command creates all 23 summaries automatically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📊 Slide 4: What the Summaries Show (Examples)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How People Travel</a:t>
            </a:r>
          </a:p>
          <a:p>
            <a:pPr lvl="0" marL="0" indent="0">
              <a:buNone/>
            </a:pPr>
            <a:r>
              <a:rPr/>
              <a:t>Shows what transportation modes people use for their daily activities.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Share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Drive</a:t>
                      </a:r>
                      <a:r>
                        <a:rPr/>
                        <a:t> </a:t>
                      </a:r>
                      <a:r>
                        <a:rPr/>
                        <a:t>Alone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2,154,000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23.5%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Carpool</a:t>
                      </a:r>
                      <a:r>
                        <a:rPr/>
                        <a:t> </a:t>
                      </a:r>
                      <a:r>
                        <a:rPr/>
                        <a:t>(2</a:t>
                      </a:r>
                      <a:r>
                        <a:rPr/>
                        <a:t> </a:t>
                      </a:r>
                      <a:r>
                        <a:rPr/>
                        <a:t>person)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2,221,000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24.3%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Carpool</a:t>
                      </a:r>
                      <a:r>
                        <a:rPr/>
                        <a:t> </a:t>
                      </a:r>
                      <a:r>
                        <a:rPr/>
                        <a:t>(3+</a:t>
                      </a:r>
                      <a:r>
                        <a:rPr/>
                        <a:t> </a:t>
                      </a:r>
                      <a:r>
                        <a:rPr/>
                        <a:t>person)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1,722,000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18.8%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Walk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1,185,000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12.9%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Bike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652,000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Transit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503,700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5.5%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Other</a:t>
                      </a:r>
                      <a:r>
                        <a:rPr/>
                        <a:t> </a:t>
                      </a:r>
                      <a:r>
                        <a:rPr/>
                        <a:t>(TNC,</a:t>
                      </a:r>
                      <a:r>
                        <a:rPr/>
                        <a:t> </a:t>
                      </a:r>
                      <a:r>
                        <a:rPr/>
                        <a:t>Taxi,</a:t>
                      </a:r>
                      <a:r>
                        <a:rPr/>
                        <a:t> </a:t>
                      </a:r>
                      <a:r>
                        <a:rPr/>
                        <a:t>School</a:t>
                      </a:r>
                      <a:r>
                        <a:rPr/>
                        <a:t> </a:t>
                      </a:r>
                      <a:r>
                        <a:rPr/>
                        <a:t>Bus)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226,000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2.5%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Travel Distances</a:t>
            </a:r>
          </a:p>
          <a:p>
            <a:pPr lvl="0" marL="0" indent="0">
              <a:buNone/>
            </a:pPr>
            <a:r>
              <a:rPr/>
              <a:t>Shows how far people typically travel for their daily tours.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Share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0-5</a:t>
                      </a:r>
                      <a:r>
                        <a:rPr/>
                        <a:t> </a:t>
                      </a:r>
                      <a:r>
                        <a:rPr/>
                        <a:t>miles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5,406,000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64.6%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5-10</a:t>
                      </a:r>
                      <a:r>
                        <a:rPr/>
                        <a:t> </a:t>
                      </a:r>
                      <a:r>
                        <a:rPr/>
                        <a:t>miles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1,482,000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17.7%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10-20</a:t>
                      </a:r>
                      <a:r>
                        <a:rPr/>
                        <a:t> </a:t>
                      </a:r>
                      <a:r>
                        <a:rPr/>
                        <a:t>miles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884,000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10.6%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20-50</a:t>
                      </a:r>
                      <a:r>
                        <a:rPr/>
                        <a:t> </a:t>
                      </a:r>
                      <a:r>
                        <a:rPr/>
                        <a:t>miles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496,000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5.9%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50+</a:t>
                      </a:r>
                      <a:r>
                        <a:rPr/>
                        <a:t> </a:t>
                      </a:r>
                      <a:r>
                        <a:rPr/>
                        <a:t>miles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94,000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1.1%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📊 Slide 5: Network Performance Examples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Daily Traffic by Road Type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Road</a:t>
                      </a:r>
                      <a:r>
                        <a:rPr/>
                        <a:t> </a:t>
                      </a:r>
                      <a:r>
                        <a:rPr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Daily</a:t>
                      </a:r>
                      <a:r>
                        <a:rPr/>
                        <a:t> </a:t>
                      </a:r>
                      <a:r>
                        <a:rPr/>
                        <a:t>Vehicle</a:t>
                      </a:r>
                      <a:r>
                        <a:rPr/>
                        <a:t> </a:t>
                      </a:r>
                      <a:r>
                        <a:rPr/>
                        <a:t>Miles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Share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Freeway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78.7M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Arterial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23.4M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15%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Collector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21.9M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Connector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12.5M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Local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6.8M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Total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154.6M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100%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Trip Purposes</a:t>
            </a:r>
          </a:p>
          <a:p>
            <a:pPr lvl="0" marL="0" indent="0">
              <a:buNone/>
            </a:pPr>
            <a:r>
              <a:rPr/>
              <a:t>Shows why people travel throughout the day.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Daily</a:t>
                      </a:r>
                      <a:r>
                        <a:rPr/>
                        <a:t> </a:t>
                      </a:r>
                      <a:r>
                        <a:rPr/>
                        <a:t>Trips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Share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6,428,000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22.2%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Discretionary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4,343,000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15.0%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Maintenance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4,016,000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13.8%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School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3,825,000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13.2%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Shop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3,720,000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12.8%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Escort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2,277,000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7.8%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Visiting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2,067,000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7.1%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Work-Based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757,000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2.6%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County Car Ownership Patterns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County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No</a:t>
                      </a:r>
                      <a:r>
                        <a:rPr/>
                        <a:t> </a:t>
                      </a:r>
                      <a:r>
                        <a:rPr/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</a:t>
                      </a:r>
                      <a:r>
                        <a:rPr/>
                        <a:t> </a:t>
                      </a:r>
                      <a:r>
                        <a:rPr/>
                        <a:t>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2+</a:t>
                      </a:r>
                      <a:r>
                        <a:rPr/>
                        <a:t> </a:t>
                      </a:r>
                      <a:r>
                        <a:rPr/>
                        <a:t>Cars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Households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San</a:t>
                      </a:r>
                      <a:r>
                        <a:rPr/>
                        <a:t> </a:t>
                      </a:r>
                      <a:r>
                        <a:rPr/>
                        <a:t>Francisco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440,500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Alameda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14%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54%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716,200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Santa</a:t>
                      </a:r>
                      <a:r>
                        <a:rPr/>
                        <a:t> </a:t>
                      </a:r>
                      <a:r>
                        <a:rPr/>
                        <a:t>Clara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8%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727,400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Contra</a:t>
                      </a:r>
                      <a:r>
                        <a:rPr/>
                        <a:t> </a:t>
                      </a:r>
                      <a:r>
                        <a:rPr/>
                        <a:t>Costa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26%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65%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443,900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San</a:t>
                      </a:r>
                      <a:r>
                        <a:rPr/>
                        <a:t> </a:t>
                      </a:r>
                      <a:r>
                        <a:rPr/>
                        <a:t>Mateo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32%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59%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298,600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📊 Slide 6: How It Works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Network Performance Reports</a:t>
            </a:r>
          </a:p>
          <a:p>
            <a:pPr lvl="0" indent="0">
              <a:buNone/>
            </a:pPr>
            <a:r>
              <a:rPr>
                <a:latin typeface="Courier"/>
              </a:rPr>
              <a:t>Model Results
  ↓
Automatic Processing
  ├─ Reads network data (morning, midday, evening)
  ├─ Reads transit ridership data
  ├─ Calculates traffic volumes, speeds, delays
  ├─ Organizes by road type, county, transit operator
  └─ Checks for unusual values
  ↓
Reports: Excel file + detailed CSV files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Travel Behavior Summaries</a:t>
            </a:r>
          </a:p>
          <a:p>
            <a:pPr lvl="0" indent="0">
              <a:buNone/>
            </a:pPr>
            <a:r>
              <a:rPr>
                <a:latin typeface="Courier"/>
              </a:rPr>
              <a:t>Model Household/Person/Trip Data
  ↓
Automatic Processing
  ├─ Reads configuration (what to summarize)
  ├─ Labels data (converts codes to readable names)
  └─ Creates 23 standard summaries
  ↓
Summary &amp; Quality Check
  ├─ Groups and counts (e.g., trips by mode)
  ├─ Calculates percentages
  └─ Flags unusual patterns
  ↓
Reports: 23 CSV files ready for analysis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📊 Slide 7: Why This Matters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Benefits for Planning</a:t>
            </a:r>
          </a:p>
          <a:p>
            <a:pPr lvl="0" marL="0" indent="0">
              <a:buNone/>
            </a:pPr>
            <a:r>
              <a:rPr/>
              <a:t>✅ </a:t>
            </a:r>
            <a:r>
              <a:rPr b="1"/>
              <a:t>Save Time</a:t>
            </a:r>
            <a:r>
              <a:rPr/>
              <a:t> - Hours of manual work → 10 minutes automated</a:t>
            </a:r>
            <a:br/>
            <a:r>
              <a:rPr/>
              <a:t>✅ </a:t>
            </a:r>
            <a:r>
              <a:rPr b="1"/>
              <a:t>More Reliable</a:t>
            </a:r>
            <a:r>
              <a:rPr/>
              <a:t> - Same calculations every time, no manual errors</a:t>
            </a:r>
            <a:br/>
            <a:r>
              <a:rPr/>
              <a:t>✅ </a:t>
            </a:r>
            <a:r>
              <a:rPr b="1"/>
              <a:t>Find Problems Early</a:t>
            </a:r>
            <a:r>
              <a:rPr/>
              <a:t> - Automatic checks catch issues before they compound</a:t>
            </a:r>
            <a:br/>
            <a:r>
              <a:rPr/>
              <a:t>✅ </a:t>
            </a:r>
            <a:r>
              <a:rPr b="1"/>
              <a:t>Easy to Compare</a:t>
            </a:r>
            <a:r>
              <a:rPr/>
              <a:t> - Standard format makes scenario comparison simple</a:t>
            </a:r>
            <a:br/>
            <a:r>
              <a:rPr/>
              <a:t>✅ </a:t>
            </a:r>
            <a:r>
              <a:rPr b="1"/>
              <a:t>Easy to Understand</a:t>
            </a:r>
            <a:r>
              <a:rPr/>
              <a:t> - Clear labels and organization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Current Status</a:t>
            </a:r>
          </a:p>
          <a:p>
            <a:pPr lvl="1"/>
            <a:r>
              <a:rPr/>
              <a:t>✅ </a:t>
            </a:r>
            <a:r>
              <a:rPr b="1"/>
              <a:t>Network Reports</a:t>
            </a:r>
            <a:r>
              <a:rPr/>
              <a:t>: Ready to use, integrated into model system</a:t>
            </a:r>
          </a:p>
          <a:p>
            <a:pPr lvl="1"/>
            <a:r>
              <a:rPr/>
              <a:t>✅ </a:t>
            </a:r>
            <a:r>
              <a:rPr b="1"/>
              <a:t>Travel Summaries</a:t>
            </a:r>
            <a:r>
              <a:rPr/>
              <a:t>: Ready to use, fully documented</a:t>
            </a:r>
          </a:p>
          <a:p>
            <a:pPr lvl="1"/>
            <a:r>
              <a:rPr/>
              <a:t>✅ </a:t>
            </a:r>
            <a:r>
              <a:rPr b="1"/>
              <a:t>Export Tools</a:t>
            </a:r>
            <a:r>
              <a:rPr/>
              <a:t>: Available for detailed analysis</a:t>
            </a:r>
          </a:p>
          <a:p>
            <a:pPr lvl="1"/>
            <a:r>
              <a:rPr/>
              <a:t>🔄 </a:t>
            </a:r>
            <a:r>
              <a:rPr b="1"/>
              <a:t>In Use Now</a:t>
            </a:r>
            <a:r>
              <a:rPr/>
              <a:t>: Being used to validate 2015 base year model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What’s Next</a:t>
            </a:r>
          </a:p>
          <a:p>
            <a:pPr lvl="1">
              <a:buAutoNum type="arabicPeriod"/>
            </a:pPr>
            <a:r>
              <a:rPr b="1"/>
              <a:t>Standardize</a:t>
            </a:r>
            <a:r>
              <a:rPr/>
              <a:t> - Make these reports part of every model run</a:t>
            </a:r>
          </a:p>
          <a:p>
            <a:pPr lvl="1">
              <a:buAutoNum type="arabicPeriod"/>
            </a:pPr>
            <a:r>
              <a:rPr b="1"/>
              <a:t>Train Team</a:t>
            </a:r>
            <a:r>
              <a:rPr/>
              <a:t> - Show planners how to use these summaries</a:t>
            </a:r>
          </a:p>
          <a:p>
            <a:pPr lvl="1">
              <a:buAutoNum type="arabicPeriod"/>
            </a:pPr>
            <a:r>
              <a:rPr b="1"/>
              <a:t>Expand</a:t>
            </a:r>
            <a:r>
              <a:rPr/>
              <a:t> - Add more summaries based on what planners need</a:t>
            </a:r>
          </a:p>
          <a:p>
            <a:pPr lvl="1">
              <a:buAutoNum type="arabicPeriod"/>
            </a:pPr>
            <a:r>
              <a:rPr b="1"/>
              <a:t>Compare Scenarios</a:t>
            </a:r>
            <a:r>
              <a:rPr/>
              <a:t> - Build tools to easily compare alternatives</a:t>
            </a:r>
          </a:p>
          <a:p>
            <a:pPr lvl="1">
              <a:buAutoNum type="arabicPeriod"/>
            </a:pPr>
            <a:r>
              <a:rPr b="1"/>
              <a:t>Visualize</a:t>
            </a:r>
            <a:r>
              <a:rPr/>
              <a:t> - Create interactive dashboards for exploring results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📊 Slide 8: Getting Started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Documentation Available</a:t>
            </a:r>
          </a:p>
          <a:p>
            <a:pPr lvl="1"/>
            <a:r>
              <a:rPr b="1"/>
              <a:t>Network Reports Guide</a:t>
            </a:r>
            <a:r>
              <a:rPr/>
              <a:t>: See model documentation folder</a:t>
            </a:r>
          </a:p>
          <a:p>
            <a:pPr lvl="1"/>
            <a:r>
              <a:rPr b="1"/>
              <a:t>Travel Summaries Guide</a:t>
            </a:r>
            <a:r>
              <a:rPr/>
              <a:t>: https://bayareametro.github.io/tm2py-utils/</a:t>
            </a:r>
          </a:p>
          <a:p>
            <a:pPr lvl="1"/>
            <a:r>
              <a:rPr b="1"/>
              <a:t>Complete List</a:t>
            </a:r>
            <a:r>
              <a:rPr/>
              <a:t>: All outputs documented in inventory file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Where to Find Reports</a:t>
            </a:r>
          </a:p>
          <a:p>
            <a:pPr lvl="0" marL="0" indent="0">
              <a:buNone/>
            </a:pPr>
            <a:r>
              <a:rPr/>
              <a:t>After a model run completes:</a:t>
            </a:r>
          </a:p>
          <a:p>
            <a:pPr lvl="0" marL="0" indent="0">
              <a:buNone/>
            </a:pPr>
            <a:r>
              <a:rPr b="1"/>
              <a:t>Network Performance Reports</a:t>
            </a:r>
            <a:r>
              <a:rPr/>
              <a:t>: - Main file: </a:t>
            </a:r>
            <a:r>
              <a:rPr>
                <a:latin typeface="Courier"/>
              </a:rPr>
              <a:t>output_summaries/network_summary_report.xlsx</a:t>
            </a:r>
            <a:r>
              <a:rPr/>
              <a:t> - Detailed files: </a:t>
            </a:r>
            <a:r>
              <a:rPr>
                <a:latin typeface="Courier"/>
              </a:rPr>
              <a:t>output_summaries/*.csv</a:t>
            </a:r>
          </a:p>
          <a:p>
            <a:pPr lvl="0" marL="0" indent="0">
              <a:buNone/>
            </a:pPr>
            <a:r>
              <a:rPr b="1"/>
              <a:t>Travel Behavior Summaries</a:t>
            </a:r>
            <a:r>
              <a:rPr/>
              <a:t>: - All summaries: </a:t>
            </a:r>
            <a:r>
              <a:rPr>
                <a:latin typeface="Courier"/>
              </a:rPr>
              <a:t>outputs/*.csv</a:t>
            </a:r>
            <a:r>
              <a:rPr/>
              <a:t> (23 files) - Easy to open in Excel or other tools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How Long Does It Take?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Time</a:t>
                      </a:r>
                      <a:r>
                        <a:rPr/>
                        <a:t> </a:t>
                      </a:r>
                      <a:r>
                        <a:rPr/>
                        <a:t>to</a:t>
                      </a:r>
                      <a:r>
                        <a:rPr/>
                        <a:t> </a:t>
                      </a:r>
                      <a:r>
                        <a:rPr/>
                        <a:t>Run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What</a:t>
                      </a:r>
                      <a:r>
                        <a:rPr/>
                        <a:t> </a:t>
                      </a:r>
                      <a:r>
                        <a:rPr/>
                        <a:t>You</a:t>
                      </a:r>
                      <a:r>
                        <a:rPr/>
                        <a:t> </a:t>
                      </a:r>
                      <a:r>
                        <a:rPr/>
                        <a:t>Get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Network</a:t>
                      </a:r>
                      <a:r>
                        <a:rPr/>
                        <a:t> </a:t>
                      </a:r>
                      <a:r>
                        <a:rPr/>
                        <a:t>Reports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5-10</a:t>
                      </a:r>
                      <a:r>
                        <a:rPr/>
                        <a:t> </a:t>
                      </a:r>
                      <a:r>
                        <a:rPr/>
                        <a:t>minutes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Highway</a:t>
                      </a:r>
                      <a:r>
                        <a:rPr/>
                        <a:t> </a:t>
                      </a:r>
                      <a:r>
                        <a:rPr/>
                        <a:t>&amp;</a:t>
                      </a:r>
                      <a:r>
                        <a:rPr/>
                        <a:t> </a:t>
                      </a:r>
                      <a:r>
                        <a:rPr/>
                        <a:t>transit</a:t>
                      </a:r>
                      <a:r>
                        <a:rPr/>
                        <a:t> </a:t>
                      </a:r>
                      <a:r>
                        <a:rPr/>
                        <a:t>performance</a:t>
                      </a:r>
                      <a:r>
                        <a:rPr/>
                        <a:t> </a:t>
                      </a:r>
                      <a:r>
                        <a:rPr/>
                        <a:t>(30+</a:t>
                      </a:r>
                      <a:r>
                        <a:rPr/>
                        <a:t> </a:t>
                      </a:r>
                      <a:r>
                        <a:rPr/>
                        <a:t>files)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Travel</a:t>
                      </a:r>
                      <a:r>
                        <a:rPr/>
                        <a:t> </a:t>
                      </a:r>
                      <a:r>
                        <a:rPr/>
                        <a:t>Summaries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7-11</a:t>
                      </a:r>
                      <a:r>
                        <a:rPr/>
                        <a:t> </a:t>
                      </a:r>
                      <a:r>
                        <a:rPr/>
                        <a:t>minutes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Travel</a:t>
                      </a:r>
                      <a:r>
                        <a:rPr/>
                        <a:t> </a:t>
                      </a:r>
                      <a:r>
                        <a:rPr/>
                        <a:t>behavior</a:t>
                      </a:r>
                      <a:r>
                        <a:rPr/>
                        <a:t> </a:t>
                      </a:r>
                      <a:r>
                        <a:rPr/>
                        <a:t>patterns</a:t>
                      </a:r>
                      <a:r>
                        <a:rPr/>
                        <a:t> </a:t>
                      </a:r>
                      <a:r>
                        <a:rPr/>
                        <a:t>(23</a:t>
                      </a:r>
                      <a:r>
                        <a:rPr/>
                        <a:t> </a:t>
                      </a:r>
                      <a:r>
                        <a:rPr/>
                        <a:t>files)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Note</a:t>
            </a:r>
            <a:r>
              <a:rPr/>
              <a:t>: These run automatically as part of the model - no extra work needed!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END OF PRESENTATION SUMMARY</a:t>
            </a:r>
          </a:p>
          <a:p>
            <a:pPr lvl="0" marL="0" indent="0">
              <a:buNone/>
            </a:pPr>
            <a:r>
              <a:rPr i="1"/>
              <a:t>This is a condensed summary focused on recent development (past 6 months). For complete inventory of all outputs, see </a:t>
            </a:r>
            <a:r>
              <a:rPr i="1">
                <a:latin typeface="Courier"/>
              </a:rPr>
              <a:t>TM2PY_SUMMARIES_AND_OUTPUTS_INVENTORY.md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2026-01-05T18:21:19Z</dcterms:created>
  <dcterms:modified xsi:type="dcterms:W3CDTF">2026-01-05T18:21:19Z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